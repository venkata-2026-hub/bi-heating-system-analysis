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7_4E05152C.xml" ContentType="application/vnd.ms-powerpoint.comments+xml"/>
  <Override PartName="/ppt/comments/modernComment_102_0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omments/modernComment_108_5C101B28.xml" ContentType="application/vnd.ms-powerpoint.comments+xml"/>
  <Override PartName="/ppt/notesSlides/notesSlide4.xml" ContentType="application/vnd.openxmlformats-officedocument.presentationml.notesSlide+xml"/>
  <Override PartName="/ppt/comments/modernComment_109_E7923F8A.xml" ContentType="application/vnd.ms-powerpoint.comments+xml"/>
  <Override PartName="/ppt/notesSlides/notesSlide5.xml" ContentType="application/vnd.openxmlformats-officedocument.presentationml.notesSlide+xml"/>
  <Override PartName="/ppt/comments/modernComment_10A_A24D29C6.xml" ContentType="application/vnd.ms-powerpoint.comment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64" r:id="rId6"/>
    <p:sldId id="265" r:id="rId7"/>
    <p:sldId id="266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8A6A00-FFDF-53DF-FE61-87F5ECDBBBE5}" name="Joel Cherianthanathu Chacko (s)" initials="J(" userId="S::joel.cherianthanathuchacko@students.fhnw.ch::967be758-aadc-4d20-b4a6-c446b1c831cc" providerId="AD"/>
  <p188:author id="{F3FA28F7-998A-F799-A17D-971D2B0CFEB1}" name="Kathrin Puthiyedathu (s)" initials="K(" userId="S::kathrin.puthiyedathu@students.fhnw.ch::124426ec-832e-410b-8d20-09ab02d3f3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DD9C8-54FF-F523-9760-D6DA96368E1A}" v="108" dt="2025-06-23T11:02:02.973"/>
    <p1510:client id="{B739F214-4A2E-5E4B-AB3C-D4DF706F4540}" v="2" dt="2025-06-23T11:46:33.050"/>
    <p1510:client id="{D1A3E5D2-8660-FC60-55AD-88EBB80953F5}" v="1" dt="2025-06-23T10:48:28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84097"/>
  </p:normalViewPr>
  <p:slideViewPr>
    <p:cSldViewPr snapToGrid="0">
      <p:cViewPr varScale="1">
        <p:scale>
          <a:sx n="53" d="100"/>
          <a:sy n="53" d="100"/>
        </p:scale>
        <p:origin x="72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A_A24D2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745784-0FF9-4FFF-87C5-5396A5C5A2E0}" authorId="{F3FA28F7-998A-F799-A17D-971D2B0CFEB1}" created="2025-06-17T20:00:58.5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22965958" sldId="266"/>
      <ac:spMk id="3" creationId="{765AE350-ECD9-0F75-2C63-B3663E9E7164}"/>
    </ac:deMkLst>
    <p188:txBody>
      <a:bodyPr/>
      <a:lstStyle/>
      <a:p>
        <a:r>
          <a:rPr lang="en-US"/>
          <a:t>@everyone: try to formulate</a:t>
        </a:r>
      </a:p>
    </p188:txBody>
  </p188:cm>
  <p188:cm id="{1622A3F4-949E-40EB-A67F-D5570DCFF965}" authorId="{868A6A00-FFDF-53DF-FE61-87F5ECDBBBE5}" created="2025-06-18T09:23:01.2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22965958" sldId="266"/>
      <ac:picMk id="4" creationId="{F09414A2-A295-96AF-7EAA-AC720F6A0BA8}"/>
    </ac:deMkLst>
    <p188:txBody>
      <a:bodyPr/>
      <a:lstStyle/>
      <a:p>
        <a:r>
          <a:rPr lang="en-US"/>
          <a:t>this is the  test data results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3E63725-AB10-4100-B078-50C33AA21033}" authorId="{F3FA28F7-998A-F799-A17D-971D2B0CFEB1}" created="2025-06-17T19:44:36.70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2" creationId="{00000000-0000-0000-0000-000000000000}"/>
      <ac:txMk cp="0" len="24">
        <ac:context len="25" hash="190772445"/>
      </ac:txMk>
    </ac:txMkLst>
    <p188:pos x="6810250" y="429744"/>
    <p188:txBody>
      <a:bodyPr/>
      <a:lstStyle/>
      <a:p>
        <a:r>
          <a:rPr lang="en-US"/>
          <a:t>Check if all insights are aligned with Dashboard</a:t>
        </a:r>
      </a:p>
    </p188:txBody>
  </p188:cm>
</p188:cmLst>
</file>

<file path=ppt/comments/modernComment_107_4E0515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CD9FBC-6C8C-4F8C-8179-6CEC288B6626}" authorId="{868A6A00-FFDF-53DF-FE61-87F5ECDBBBE5}" created="2025-06-18T09:28:39.264">
    <pc:sldMkLst xmlns:pc="http://schemas.microsoft.com/office/powerpoint/2013/main/command">
      <pc:docMk/>
      <pc:sldMk cId="1308955948" sldId="263"/>
    </pc:sldMkLst>
    <p188:txBody>
      <a:bodyPr/>
      <a:lstStyle/>
      <a:p>
        <a:r>
          <a:rPr lang="en-US"/>
          <a:t>I think only this is enough right?</a:t>
        </a:r>
      </a:p>
    </p188:txBody>
  </p188:cm>
</p188:cmLst>
</file>

<file path=ppt/comments/modernComment_108_5C101B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CC48D0-6274-4868-942E-1AA6F842116F}" authorId="{868A6A00-FFDF-53DF-FE61-87F5ECDBBBE5}" created="2025-06-18T09:23:41.1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44559400" sldId="264"/>
      <ac:picMk id="4" creationId="{1E70D4A0-8A1D-EFF3-61C6-39842C223DB2}"/>
    </ac:deMkLst>
    <p188:txBody>
      <a:bodyPr/>
      <a:lstStyle/>
      <a:p>
        <a:r>
          <a:rPr lang="en-US"/>
          <a:t>Model I think this is enough and just explain It a bit </a:t>
        </a:r>
      </a:p>
    </p188:txBody>
  </p188:cm>
</p188:cmLst>
</file>

<file path=ppt/comments/modernComment_109_E7923F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AB9752-3F74-4BCB-AF56-B64B95015749}" authorId="{F3FA28F7-998A-F799-A17D-971D2B0CFEB1}" created="2025-06-17T19:47:38.4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85121418" sldId="265"/>
      <ac:spMk id="7" creationId="{FBD87808-5D0A-DE8C-F521-4F2E9F419DDC}"/>
    </ac:deMkLst>
    <p188:txBody>
      <a:bodyPr/>
      <a:lstStyle/>
      <a:p>
        <a:r>
          <a:rPr lang="en-US"/>
          <a:t>Check if aligned with Orange</a:t>
        </a:r>
      </a:p>
    </p188:txBody>
  </p188:cm>
</p188:cmLst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B88C38-19B4-437C-96EC-E8FEABDF949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AD7F98-4588-4DE2-AB48-2E6A68D12038}">
      <dgm:prSet/>
      <dgm:spPr/>
      <dgm:t>
        <a:bodyPr/>
        <a:lstStyle/>
        <a:p>
          <a:r>
            <a:rPr lang="en-US"/>
            <a:t>Problem: Manual classification of heating system modes is inefficient and error-prone.</a:t>
          </a:r>
        </a:p>
      </dgm:t>
    </dgm:pt>
    <dgm:pt modelId="{9F2BD90A-BDFE-4FB2-B2BA-8D2924985602}" type="parTrans" cxnId="{9A89B111-C7D8-4F16-A7AF-9BF2AB8D3A58}">
      <dgm:prSet/>
      <dgm:spPr/>
      <dgm:t>
        <a:bodyPr/>
        <a:lstStyle/>
        <a:p>
          <a:endParaRPr lang="en-US"/>
        </a:p>
      </dgm:t>
    </dgm:pt>
    <dgm:pt modelId="{00B942FA-408A-47EB-8A68-C49A168270F0}" type="sibTrans" cxnId="{9A89B111-C7D8-4F16-A7AF-9BF2AB8D3A58}">
      <dgm:prSet/>
      <dgm:spPr/>
      <dgm:t>
        <a:bodyPr/>
        <a:lstStyle/>
        <a:p>
          <a:endParaRPr lang="en-US"/>
        </a:p>
      </dgm:t>
    </dgm:pt>
    <dgm:pt modelId="{C8BE3A9E-6196-4877-895B-1E86E2479B37}">
      <dgm:prSet/>
      <dgm:spPr/>
      <dgm:t>
        <a:bodyPr/>
        <a:lstStyle/>
        <a:p>
          <a:r>
            <a:rPr lang="en-US"/>
            <a:t>Goal: Detection of active Nighttime-Setback mode </a:t>
          </a:r>
        </a:p>
      </dgm:t>
    </dgm:pt>
    <dgm:pt modelId="{F0D2BCB7-2739-4C04-B743-527C8DD32290}" type="parTrans" cxnId="{AF80E3E1-873C-40DD-ABDC-C9DCBB82DCE4}">
      <dgm:prSet/>
      <dgm:spPr/>
      <dgm:t>
        <a:bodyPr/>
        <a:lstStyle/>
        <a:p>
          <a:endParaRPr lang="en-US"/>
        </a:p>
      </dgm:t>
    </dgm:pt>
    <dgm:pt modelId="{8358B725-03B8-49AB-9EF4-1941D2E66DB1}" type="sibTrans" cxnId="{AF80E3E1-873C-40DD-ABDC-C9DCBB82DCE4}">
      <dgm:prSet/>
      <dgm:spPr/>
      <dgm:t>
        <a:bodyPr/>
        <a:lstStyle/>
        <a:p>
          <a:endParaRPr lang="en-US"/>
        </a:p>
      </dgm:t>
    </dgm:pt>
    <dgm:pt modelId="{433FBD8B-201E-4AEB-9B0B-D40894E24150}" type="pres">
      <dgm:prSet presAssocID="{40B88C38-19B4-437C-96EC-E8FEABDF9499}" presName="Name0" presStyleCnt="0">
        <dgm:presLayoutVars>
          <dgm:dir/>
          <dgm:resizeHandles val="exact"/>
        </dgm:presLayoutVars>
      </dgm:prSet>
      <dgm:spPr/>
    </dgm:pt>
    <dgm:pt modelId="{86EDD546-E9F3-4ABA-A733-F4415094F32F}" type="pres">
      <dgm:prSet presAssocID="{76AD7F98-4588-4DE2-AB48-2E6A68D12038}" presName="node" presStyleLbl="node1" presStyleIdx="0" presStyleCnt="2">
        <dgm:presLayoutVars>
          <dgm:bulletEnabled val="1"/>
        </dgm:presLayoutVars>
      </dgm:prSet>
      <dgm:spPr/>
    </dgm:pt>
    <dgm:pt modelId="{28206987-61E0-4CB4-981B-28C7E7031F23}" type="pres">
      <dgm:prSet presAssocID="{00B942FA-408A-47EB-8A68-C49A168270F0}" presName="sibTrans" presStyleLbl="sibTrans1D1" presStyleIdx="0" presStyleCnt="1"/>
      <dgm:spPr/>
    </dgm:pt>
    <dgm:pt modelId="{674491E2-7A3D-4F56-BBC0-9D3E7346BC60}" type="pres">
      <dgm:prSet presAssocID="{00B942FA-408A-47EB-8A68-C49A168270F0}" presName="connectorText" presStyleLbl="sibTrans1D1" presStyleIdx="0" presStyleCnt="1"/>
      <dgm:spPr/>
    </dgm:pt>
    <dgm:pt modelId="{DC1AF9AA-3BD7-4C95-970C-EFBED3896145}" type="pres">
      <dgm:prSet presAssocID="{C8BE3A9E-6196-4877-895B-1E86E2479B37}" presName="node" presStyleLbl="node1" presStyleIdx="1" presStyleCnt="2">
        <dgm:presLayoutVars>
          <dgm:bulletEnabled val="1"/>
        </dgm:presLayoutVars>
      </dgm:prSet>
      <dgm:spPr/>
    </dgm:pt>
  </dgm:ptLst>
  <dgm:cxnLst>
    <dgm:cxn modelId="{9A89B111-C7D8-4F16-A7AF-9BF2AB8D3A58}" srcId="{40B88C38-19B4-437C-96EC-E8FEABDF9499}" destId="{76AD7F98-4588-4DE2-AB48-2E6A68D12038}" srcOrd="0" destOrd="0" parTransId="{9F2BD90A-BDFE-4FB2-B2BA-8D2924985602}" sibTransId="{00B942FA-408A-47EB-8A68-C49A168270F0}"/>
    <dgm:cxn modelId="{78160DB1-9A43-3D46-8158-8718FAD2DF85}" type="presOf" srcId="{00B942FA-408A-47EB-8A68-C49A168270F0}" destId="{28206987-61E0-4CB4-981B-28C7E7031F23}" srcOrd="0" destOrd="0" presId="urn:microsoft.com/office/officeart/2016/7/layout/RepeatingBendingProcessNew"/>
    <dgm:cxn modelId="{EF4121C4-7736-044B-AABB-5B5FFC254B0D}" type="presOf" srcId="{40B88C38-19B4-437C-96EC-E8FEABDF9499}" destId="{433FBD8B-201E-4AEB-9B0B-D40894E24150}" srcOrd="0" destOrd="0" presId="urn:microsoft.com/office/officeart/2016/7/layout/RepeatingBendingProcessNew"/>
    <dgm:cxn modelId="{43C3A3DC-4410-8F4D-8855-12AED9AD9B06}" type="presOf" srcId="{00B942FA-408A-47EB-8A68-C49A168270F0}" destId="{674491E2-7A3D-4F56-BBC0-9D3E7346BC60}" srcOrd="1" destOrd="0" presId="urn:microsoft.com/office/officeart/2016/7/layout/RepeatingBendingProcessNew"/>
    <dgm:cxn modelId="{A426BCDE-1259-A44B-BCDA-2B38DC6EF02F}" type="presOf" srcId="{C8BE3A9E-6196-4877-895B-1E86E2479B37}" destId="{DC1AF9AA-3BD7-4C95-970C-EFBED3896145}" srcOrd="0" destOrd="0" presId="urn:microsoft.com/office/officeart/2016/7/layout/RepeatingBendingProcessNew"/>
    <dgm:cxn modelId="{AF80E3E1-873C-40DD-ABDC-C9DCBB82DCE4}" srcId="{40B88C38-19B4-437C-96EC-E8FEABDF9499}" destId="{C8BE3A9E-6196-4877-895B-1E86E2479B37}" srcOrd="1" destOrd="0" parTransId="{F0D2BCB7-2739-4C04-B743-527C8DD32290}" sibTransId="{8358B725-03B8-49AB-9EF4-1941D2E66DB1}"/>
    <dgm:cxn modelId="{1F49DBE7-6C40-F742-B32E-71DD5FC75AD3}" type="presOf" srcId="{76AD7F98-4588-4DE2-AB48-2E6A68D12038}" destId="{86EDD546-E9F3-4ABA-A733-F4415094F32F}" srcOrd="0" destOrd="0" presId="urn:microsoft.com/office/officeart/2016/7/layout/RepeatingBendingProcessNew"/>
    <dgm:cxn modelId="{33FD8898-9304-F34B-B54B-B9BDEC099D36}" type="presParOf" srcId="{433FBD8B-201E-4AEB-9B0B-D40894E24150}" destId="{86EDD546-E9F3-4ABA-A733-F4415094F32F}" srcOrd="0" destOrd="0" presId="urn:microsoft.com/office/officeart/2016/7/layout/RepeatingBendingProcessNew"/>
    <dgm:cxn modelId="{1F941B49-E301-9A44-BA37-C261CB0149AB}" type="presParOf" srcId="{433FBD8B-201E-4AEB-9B0B-D40894E24150}" destId="{28206987-61E0-4CB4-981B-28C7E7031F23}" srcOrd="1" destOrd="0" presId="urn:microsoft.com/office/officeart/2016/7/layout/RepeatingBendingProcessNew"/>
    <dgm:cxn modelId="{FC207D36-52B4-6047-943B-07D30AEB936C}" type="presParOf" srcId="{28206987-61E0-4CB4-981B-28C7E7031F23}" destId="{674491E2-7A3D-4F56-BBC0-9D3E7346BC60}" srcOrd="0" destOrd="0" presId="urn:microsoft.com/office/officeart/2016/7/layout/RepeatingBendingProcessNew"/>
    <dgm:cxn modelId="{3CA9A61D-3483-4646-9CA1-3435D7D8A16D}" type="presParOf" srcId="{433FBD8B-201E-4AEB-9B0B-D40894E24150}" destId="{DC1AF9AA-3BD7-4C95-970C-EFBED3896145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23BD11-3A62-4A31-91B7-4CFB3E6D0026}" type="doc">
      <dgm:prSet loTypeId="urn:microsoft.com/office/officeart/2005/8/layout/defaul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BEC8D054-D912-4516-A0DF-72DE9972871C}">
      <dgm:prSet/>
      <dgm:spPr/>
      <dgm:t>
        <a:bodyPr/>
        <a:lstStyle/>
        <a:p>
          <a:r>
            <a:rPr lang="en-US"/>
            <a:t>Setback mode typically active between 20:30–21:30 and 03:30–04:30.</a:t>
          </a:r>
        </a:p>
      </dgm:t>
    </dgm:pt>
    <dgm:pt modelId="{B28E5F25-6D9A-4B90-97CA-03E6A354903C}" type="parTrans" cxnId="{C6EA89EB-9D33-4F77-AC7F-9CB5007B3470}">
      <dgm:prSet/>
      <dgm:spPr/>
      <dgm:t>
        <a:bodyPr/>
        <a:lstStyle/>
        <a:p>
          <a:endParaRPr lang="en-US"/>
        </a:p>
      </dgm:t>
    </dgm:pt>
    <dgm:pt modelId="{FFE086CD-C0D4-4879-84CE-3861BE052436}" type="sibTrans" cxnId="{C6EA89EB-9D33-4F77-AC7F-9CB5007B3470}">
      <dgm:prSet/>
      <dgm:spPr/>
      <dgm:t>
        <a:bodyPr/>
        <a:lstStyle/>
        <a:p>
          <a:endParaRPr lang="en-US"/>
        </a:p>
      </dgm:t>
    </dgm:pt>
    <dgm:pt modelId="{D2380441-5360-4443-965F-3A82A2D7DCC4}">
      <dgm:prSet/>
      <dgm:spPr/>
      <dgm:t>
        <a:bodyPr/>
        <a:lstStyle/>
        <a:p>
          <a:r>
            <a:rPr lang="en-US" i="0"/>
            <a:t>Difference between supply and return temperatures tend to be higher in winter </a:t>
          </a:r>
          <a:r>
            <a:rPr lang="en-US" b="0" i="0"/>
            <a:t>during active hours, reflecting increased heating output.</a:t>
          </a:r>
          <a:endParaRPr lang="en-US"/>
        </a:p>
      </dgm:t>
    </dgm:pt>
    <dgm:pt modelId="{31C43B63-9A6A-4E99-83AF-0673107E9BBF}" type="parTrans" cxnId="{99BD952C-658F-4A14-B25A-4729A209E672}">
      <dgm:prSet/>
      <dgm:spPr/>
      <dgm:t>
        <a:bodyPr/>
        <a:lstStyle/>
        <a:p>
          <a:endParaRPr lang="en-US"/>
        </a:p>
      </dgm:t>
    </dgm:pt>
    <dgm:pt modelId="{544786B8-3068-4F5B-BB94-6ED0C6B64243}" type="sibTrans" cxnId="{99BD952C-658F-4A14-B25A-4729A209E672}">
      <dgm:prSet/>
      <dgm:spPr/>
      <dgm:t>
        <a:bodyPr/>
        <a:lstStyle/>
        <a:p>
          <a:endParaRPr lang="en-US"/>
        </a:p>
      </dgm:t>
    </dgm:pt>
    <dgm:pt modelId="{7D54D375-80CA-4233-8C16-5928EE62FF71}">
      <dgm:prSet/>
      <dgm:spPr/>
      <dgm:t>
        <a:bodyPr/>
        <a:lstStyle/>
        <a:p>
          <a:r>
            <a:rPr lang="en-US"/>
            <a:t>Significant drop in supply temperature confirms mode activation.</a:t>
          </a:r>
        </a:p>
      </dgm:t>
    </dgm:pt>
    <dgm:pt modelId="{172FAACE-40B1-4F44-992C-85A635CC4385}" type="parTrans" cxnId="{77F2501A-005B-48BC-941A-889654C03702}">
      <dgm:prSet/>
      <dgm:spPr/>
      <dgm:t>
        <a:bodyPr/>
        <a:lstStyle/>
        <a:p>
          <a:endParaRPr lang="en-US"/>
        </a:p>
      </dgm:t>
    </dgm:pt>
    <dgm:pt modelId="{8E26B6E6-21C7-4189-91DA-BD6BDB1256FD}" type="sibTrans" cxnId="{77F2501A-005B-48BC-941A-889654C03702}">
      <dgm:prSet/>
      <dgm:spPr/>
      <dgm:t>
        <a:bodyPr/>
        <a:lstStyle/>
        <a:p>
          <a:endParaRPr lang="en-US"/>
        </a:p>
      </dgm:t>
    </dgm:pt>
    <dgm:pt modelId="{2F330F9F-7672-470C-AF72-4AC2BE4DD5D3}">
      <dgm:prSet/>
      <dgm:spPr/>
      <dgm:t>
        <a:bodyPr/>
        <a:lstStyle/>
        <a:p>
          <a:r>
            <a:rPr lang="en-US"/>
            <a:t>Observed Noticeable temperature changes based on nighttime setback mode activation and deactivation.</a:t>
          </a:r>
        </a:p>
      </dgm:t>
    </dgm:pt>
    <dgm:pt modelId="{508652C2-8B8C-4EF9-B4CC-B23881C7F6B5}" type="parTrans" cxnId="{DE57D4E8-AAD6-49B4-AC6E-378594E6B626}">
      <dgm:prSet/>
      <dgm:spPr/>
      <dgm:t>
        <a:bodyPr/>
        <a:lstStyle/>
        <a:p>
          <a:endParaRPr lang="en-US"/>
        </a:p>
      </dgm:t>
    </dgm:pt>
    <dgm:pt modelId="{37E390B4-FD05-40D4-914B-BDAE5C00DD3D}" type="sibTrans" cxnId="{DE57D4E8-AAD6-49B4-AC6E-378594E6B626}">
      <dgm:prSet/>
      <dgm:spPr/>
      <dgm:t>
        <a:bodyPr/>
        <a:lstStyle/>
        <a:p>
          <a:endParaRPr lang="en-US"/>
        </a:p>
      </dgm:t>
    </dgm:pt>
    <dgm:pt modelId="{3DD6E20B-89B8-4A2C-87E1-2EAA427ECB0C}">
      <dgm:prSet/>
      <dgm:spPr/>
      <dgm:t>
        <a:bodyPr/>
        <a:lstStyle/>
        <a:p>
          <a:r>
            <a:rPr lang="en-US"/>
            <a:t>Manual overrides detected and visualized.</a:t>
          </a:r>
        </a:p>
      </dgm:t>
    </dgm:pt>
    <dgm:pt modelId="{5285C3BE-4049-4861-81BC-76BA0DE5FE87}" type="parTrans" cxnId="{35BCA587-3953-4104-BAC8-6D51362D933E}">
      <dgm:prSet/>
      <dgm:spPr/>
      <dgm:t>
        <a:bodyPr/>
        <a:lstStyle/>
        <a:p>
          <a:endParaRPr lang="en-US"/>
        </a:p>
      </dgm:t>
    </dgm:pt>
    <dgm:pt modelId="{428459B6-82E3-43F6-B6CD-007230233C6A}" type="sibTrans" cxnId="{35BCA587-3953-4104-BAC8-6D51362D933E}">
      <dgm:prSet/>
      <dgm:spPr/>
      <dgm:t>
        <a:bodyPr/>
        <a:lstStyle/>
        <a:p>
          <a:endParaRPr lang="en-US"/>
        </a:p>
      </dgm:t>
    </dgm:pt>
    <dgm:pt modelId="{FF8C154C-0F34-4BEA-A757-7C1895E1BF0A}" type="pres">
      <dgm:prSet presAssocID="{7B23BD11-3A62-4A31-91B7-4CFB3E6D0026}" presName="diagram" presStyleCnt="0">
        <dgm:presLayoutVars>
          <dgm:dir/>
          <dgm:resizeHandles val="exact"/>
        </dgm:presLayoutVars>
      </dgm:prSet>
      <dgm:spPr/>
    </dgm:pt>
    <dgm:pt modelId="{7DB7A76F-D768-4D70-A686-798FAE99A4CB}" type="pres">
      <dgm:prSet presAssocID="{BEC8D054-D912-4516-A0DF-72DE9972871C}" presName="node" presStyleLbl="node1" presStyleIdx="0" presStyleCnt="5">
        <dgm:presLayoutVars>
          <dgm:bulletEnabled val="1"/>
        </dgm:presLayoutVars>
      </dgm:prSet>
      <dgm:spPr/>
    </dgm:pt>
    <dgm:pt modelId="{18479971-6630-45DD-9431-C810AB7F5392}" type="pres">
      <dgm:prSet presAssocID="{FFE086CD-C0D4-4879-84CE-3861BE052436}" presName="sibTrans" presStyleCnt="0"/>
      <dgm:spPr/>
    </dgm:pt>
    <dgm:pt modelId="{2A83C6B9-F437-4F55-BA6C-7C49819B52FE}" type="pres">
      <dgm:prSet presAssocID="{D2380441-5360-4443-965F-3A82A2D7DCC4}" presName="node" presStyleLbl="node1" presStyleIdx="1" presStyleCnt="5">
        <dgm:presLayoutVars>
          <dgm:bulletEnabled val="1"/>
        </dgm:presLayoutVars>
      </dgm:prSet>
      <dgm:spPr/>
    </dgm:pt>
    <dgm:pt modelId="{88B90373-3D00-4D8A-BBF0-84283CDC4080}" type="pres">
      <dgm:prSet presAssocID="{544786B8-3068-4F5B-BB94-6ED0C6B64243}" presName="sibTrans" presStyleCnt="0"/>
      <dgm:spPr/>
    </dgm:pt>
    <dgm:pt modelId="{A3BF8633-734C-4E78-8D6F-B59DDF50474F}" type="pres">
      <dgm:prSet presAssocID="{7D54D375-80CA-4233-8C16-5928EE62FF71}" presName="node" presStyleLbl="node1" presStyleIdx="2" presStyleCnt="5">
        <dgm:presLayoutVars>
          <dgm:bulletEnabled val="1"/>
        </dgm:presLayoutVars>
      </dgm:prSet>
      <dgm:spPr/>
    </dgm:pt>
    <dgm:pt modelId="{A0625250-B3F1-4C97-9042-8263D9314752}" type="pres">
      <dgm:prSet presAssocID="{8E26B6E6-21C7-4189-91DA-BD6BDB1256FD}" presName="sibTrans" presStyleCnt="0"/>
      <dgm:spPr/>
    </dgm:pt>
    <dgm:pt modelId="{76D06982-A6B3-41A7-B46F-F6EEA1A97262}" type="pres">
      <dgm:prSet presAssocID="{2F330F9F-7672-470C-AF72-4AC2BE4DD5D3}" presName="node" presStyleLbl="node1" presStyleIdx="3" presStyleCnt="5">
        <dgm:presLayoutVars>
          <dgm:bulletEnabled val="1"/>
        </dgm:presLayoutVars>
      </dgm:prSet>
      <dgm:spPr/>
    </dgm:pt>
    <dgm:pt modelId="{3D9ADB74-4392-4A24-A1F5-C5B537093159}" type="pres">
      <dgm:prSet presAssocID="{37E390B4-FD05-40D4-914B-BDAE5C00DD3D}" presName="sibTrans" presStyleCnt="0"/>
      <dgm:spPr/>
    </dgm:pt>
    <dgm:pt modelId="{24D213B3-C377-4EE5-A76D-2992A6D85ED2}" type="pres">
      <dgm:prSet presAssocID="{3DD6E20B-89B8-4A2C-87E1-2EAA427ECB0C}" presName="node" presStyleLbl="node1" presStyleIdx="4" presStyleCnt="5">
        <dgm:presLayoutVars>
          <dgm:bulletEnabled val="1"/>
        </dgm:presLayoutVars>
      </dgm:prSet>
      <dgm:spPr/>
    </dgm:pt>
  </dgm:ptLst>
  <dgm:cxnLst>
    <dgm:cxn modelId="{77F2501A-005B-48BC-941A-889654C03702}" srcId="{7B23BD11-3A62-4A31-91B7-4CFB3E6D0026}" destId="{7D54D375-80CA-4233-8C16-5928EE62FF71}" srcOrd="2" destOrd="0" parTransId="{172FAACE-40B1-4F44-992C-85A635CC4385}" sibTransId="{8E26B6E6-21C7-4189-91DA-BD6BDB1256FD}"/>
    <dgm:cxn modelId="{99BD952C-658F-4A14-B25A-4729A209E672}" srcId="{7B23BD11-3A62-4A31-91B7-4CFB3E6D0026}" destId="{D2380441-5360-4443-965F-3A82A2D7DCC4}" srcOrd="1" destOrd="0" parTransId="{31C43B63-9A6A-4E99-83AF-0673107E9BBF}" sibTransId="{544786B8-3068-4F5B-BB94-6ED0C6B64243}"/>
    <dgm:cxn modelId="{92464752-30CE-E745-8BB6-73219DDCCBCC}" type="presOf" srcId="{3DD6E20B-89B8-4A2C-87E1-2EAA427ECB0C}" destId="{24D213B3-C377-4EE5-A76D-2992A6D85ED2}" srcOrd="0" destOrd="0" presId="urn:microsoft.com/office/officeart/2005/8/layout/default"/>
    <dgm:cxn modelId="{35BCA587-3953-4104-BAC8-6D51362D933E}" srcId="{7B23BD11-3A62-4A31-91B7-4CFB3E6D0026}" destId="{3DD6E20B-89B8-4A2C-87E1-2EAA427ECB0C}" srcOrd="4" destOrd="0" parTransId="{5285C3BE-4049-4861-81BC-76BA0DE5FE87}" sibTransId="{428459B6-82E3-43F6-B6CD-007230233C6A}"/>
    <dgm:cxn modelId="{5BBB8188-88C6-9543-816F-FC8AB95DA006}" type="presOf" srcId="{7B23BD11-3A62-4A31-91B7-4CFB3E6D0026}" destId="{FF8C154C-0F34-4BEA-A757-7C1895E1BF0A}" srcOrd="0" destOrd="0" presId="urn:microsoft.com/office/officeart/2005/8/layout/default"/>
    <dgm:cxn modelId="{0629C5A4-FBDB-8040-A97A-C711D6B50094}" type="presOf" srcId="{BEC8D054-D912-4516-A0DF-72DE9972871C}" destId="{7DB7A76F-D768-4D70-A686-798FAE99A4CB}" srcOrd="0" destOrd="0" presId="urn:microsoft.com/office/officeart/2005/8/layout/default"/>
    <dgm:cxn modelId="{D3D48CC9-E548-BA4E-B24F-0665095C8ABC}" type="presOf" srcId="{2F330F9F-7672-470C-AF72-4AC2BE4DD5D3}" destId="{76D06982-A6B3-41A7-B46F-F6EEA1A97262}" srcOrd="0" destOrd="0" presId="urn:microsoft.com/office/officeart/2005/8/layout/default"/>
    <dgm:cxn modelId="{604C2ACF-B0CD-F94A-84FC-7D52DD752350}" type="presOf" srcId="{7D54D375-80CA-4233-8C16-5928EE62FF71}" destId="{A3BF8633-734C-4E78-8D6F-B59DDF50474F}" srcOrd="0" destOrd="0" presId="urn:microsoft.com/office/officeart/2005/8/layout/default"/>
    <dgm:cxn modelId="{DE57D4E8-AAD6-49B4-AC6E-378594E6B626}" srcId="{7B23BD11-3A62-4A31-91B7-4CFB3E6D0026}" destId="{2F330F9F-7672-470C-AF72-4AC2BE4DD5D3}" srcOrd="3" destOrd="0" parTransId="{508652C2-8B8C-4EF9-B4CC-B23881C7F6B5}" sibTransId="{37E390B4-FD05-40D4-914B-BDAE5C00DD3D}"/>
    <dgm:cxn modelId="{44D30FEB-E54C-8E4F-B050-55C68D32715C}" type="presOf" srcId="{D2380441-5360-4443-965F-3A82A2D7DCC4}" destId="{2A83C6B9-F437-4F55-BA6C-7C49819B52FE}" srcOrd="0" destOrd="0" presId="urn:microsoft.com/office/officeart/2005/8/layout/default"/>
    <dgm:cxn modelId="{C6EA89EB-9D33-4F77-AC7F-9CB5007B3470}" srcId="{7B23BD11-3A62-4A31-91B7-4CFB3E6D0026}" destId="{BEC8D054-D912-4516-A0DF-72DE9972871C}" srcOrd="0" destOrd="0" parTransId="{B28E5F25-6D9A-4B90-97CA-03E6A354903C}" sibTransId="{FFE086CD-C0D4-4879-84CE-3861BE052436}"/>
    <dgm:cxn modelId="{01A15E07-EBFC-A44F-BD58-B380EC5749D2}" type="presParOf" srcId="{FF8C154C-0F34-4BEA-A757-7C1895E1BF0A}" destId="{7DB7A76F-D768-4D70-A686-798FAE99A4CB}" srcOrd="0" destOrd="0" presId="urn:microsoft.com/office/officeart/2005/8/layout/default"/>
    <dgm:cxn modelId="{EB964AB4-2996-CA4B-B01B-22FF1FDA4ADC}" type="presParOf" srcId="{FF8C154C-0F34-4BEA-A757-7C1895E1BF0A}" destId="{18479971-6630-45DD-9431-C810AB7F5392}" srcOrd="1" destOrd="0" presId="urn:microsoft.com/office/officeart/2005/8/layout/default"/>
    <dgm:cxn modelId="{925CCB45-700B-6A4C-812A-5BA52F0EA01C}" type="presParOf" srcId="{FF8C154C-0F34-4BEA-A757-7C1895E1BF0A}" destId="{2A83C6B9-F437-4F55-BA6C-7C49819B52FE}" srcOrd="2" destOrd="0" presId="urn:microsoft.com/office/officeart/2005/8/layout/default"/>
    <dgm:cxn modelId="{92077307-B57B-864D-A529-05BD6B95EAA5}" type="presParOf" srcId="{FF8C154C-0F34-4BEA-A757-7C1895E1BF0A}" destId="{88B90373-3D00-4D8A-BBF0-84283CDC4080}" srcOrd="3" destOrd="0" presId="urn:microsoft.com/office/officeart/2005/8/layout/default"/>
    <dgm:cxn modelId="{7AB660C4-B14A-634F-BCF3-EFEE97AE149B}" type="presParOf" srcId="{FF8C154C-0F34-4BEA-A757-7C1895E1BF0A}" destId="{A3BF8633-734C-4E78-8D6F-B59DDF50474F}" srcOrd="4" destOrd="0" presId="urn:microsoft.com/office/officeart/2005/8/layout/default"/>
    <dgm:cxn modelId="{19DC3B62-2CAE-B148-B5A9-8F4536E4E02A}" type="presParOf" srcId="{FF8C154C-0F34-4BEA-A757-7C1895E1BF0A}" destId="{A0625250-B3F1-4C97-9042-8263D9314752}" srcOrd="5" destOrd="0" presId="urn:microsoft.com/office/officeart/2005/8/layout/default"/>
    <dgm:cxn modelId="{890157C2-69C9-E549-9E27-546BA94CA7FB}" type="presParOf" srcId="{FF8C154C-0F34-4BEA-A757-7C1895E1BF0A}" destId="{76D06982-A6B3-41A7-B46F-F6EEA1A97262}" srcOrd="6" destOrd="0" presId="urn:microsoft.com/office/officeart/2005/8/layout/default"/>
    <dgm:cxn modelId="{632460B9-7CCF-BF4D-BE56-2A5890B352A7}" type="presParOf" srcId="{FF8C154C-0F34-4BEA-A757-7C1895E1BF0A}" destId="{3D9ADB74-4392-4A24-A1F5-C5B537093159}" srcOrd="7" destOrd="0" presId="urn:microsoft.com/office/officeart/2005/8/layout/default"/>
    <dgm:cxn modelId="{7068B8E1-6AFB-1A4D-9BEF-CC3A9333446A}" type="presParOf" srcId="{FF8C154C-0F34-4BEA-A757-7C1895E1BF0A}" destId="{24D213B3-C377-4EE5-A76D-2992A6D85ED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C07DB8-BF7F-4B8D-BB43-7EFA012B7C5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B5A1892-D2A6-4555-87EE-EC43DD381D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Automation reduces manual monitoring.</a:t>
          </a:r>
        </a:p>
      </dgm:t>
    </dgm:pt>
    <dgm:pt modelId="{0A6CC519-3F06-4AA8-AD36-0D0409EA7B5C}" type="parTrans" cxnId="{D6C3296D-225C-4DAF-B2EB-814883E74564}">
      <dgm:prSet/>
      <dgm:spPr/>
      <dgm:t>
        <a:bodyPr/>
        <a:lstStyle/>
        <a:p>
          <a:endParaRPr lang="en-US"/>
        </a:p>
      </dgm:t>
    </dgm:pt>
    <dgm:pt modelId="{7CC80947-22D6-4E58-AFB8-9BC5AFA11B87}" type="sibTrans" cxnId="{D6C3296D-225C-4DAF-B2EB-814883E74564}">
      <dgm:prSet/>
      <dgm:spPr/>
      <dgm:t>
        <a:bodyPr/>
        <a:lstStyle/>
        <a:p>
          <a:endParaRPr lang="en-US"/>
        </a:p>
      </dgm:t>
    </dgm:pt>
    <dgm:pt modelId="{E1CB1CC7-74E0-470D-B052-05E03EE983F1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>
              <a:latin typeface="Calibri"/>
            </a:rPr>
            <a:t>Models can be extended to other buildings</a:t>
          </a:r>
          <a:r>
            <a:rPr lang="en-US"/>
            <a:t>.</a:t>
          </a:r>
        </a:p>
      </dgm:t>
    </dgm:pt>
    <dgm:pt modelId="{1A8BAC4B-9356-46FB-8662-19C55D763550}" type="parTrans" cxnId="{10CF2243-7E29-492C-A286-33CDA59B03D6}">
      <dgm:prSet/>
      <dgm:spPr/>
      <dgm:t>
        <a:bodyPr/>
        <a:lstStyle/>
        <a:p>
          <a:endParaRPr lang="en-US"/>
        </a:p>
      </dgm:t>
    </dgm:pt>
    <dgm:pt modelId="{08A76B9E-0A79-49E6-AD85-6D69E7E26DD8}" type="sibTrans" cxnId="{10CF2243-7E29-492C-A286-33CDA59B03D6}">
      <dgm:prSet/>
      <dgm:spPr/>
      <dgm:t>
        <a:bodyPr/>
        <a:lstStyle/>
        <a:p>
          <a:endParaRPr lang="en-US"/>
        </a:p>
      </dgm:t>
    </dgm:pt>
    <dgm:pt modelId="{E637CA57-7ACD-4DB4-A26D-446EC0DE3651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>
              <a:latin typeface="Calibri"/>
            </a:rPr>
            <a:t>Optimize heating with effective use of nighttime setback mode. </a:t>
          </a:r>
          <a:endParaRPr lang="en-US"/>
        </a:p>
      </dgm:t>
    </dgm:pt>
    <dgm:pt modelId="{42E48EB4-7BFC-47F1-911F-B33ECA094B3F}" type="parTrans" cxnId="{0D066139-18EB-4A5E-8EEF-BB132C96BDA1}">
      <dgm:prSet/>
      <dgm:spPr/>
      <dgm:t>
        <a:bodyPr/>
        <a:lstStyle/>
        <a:p>
          <a:endParaRPr lang="en-US"/>
        </a:p>
      </dgm:t>
    </dgm:pt>
    <dgm:pt modelId="{3ADE2961-007F-4214-9CE4-FD25AC7D06F0}" type="sibTrans" cxnId="{0D066139-18EB-4A5E-8EEF-BB132C96BDA1}">
      <dgm:prSet/>
      <dgm:spPr/>
      <dgm:t>
        <a:bodyPr/>
        <a:lstStyle/>
        <a:p>
          <a:endParaRPr lang="en-US"/>
        </a:p>
      </dgm:t>
    </dgm:pt>
    <dgm:pt modelId="{E50CF68F-BC82-4B31-80BF-818C81C523A0}" type="pres">
      <dgm:prSet presAssocID="{B2C07DB8-BF7F-4B8D-BB43-7EFA012B7C55}" presName="root" presStyleCnt="0">
        <dgm:presLayoutVars>
          <dgm:dir/>
          <dgm:resizeHandles val="exact"/>
        </dgm:presLayoutVars>
      </dgm:prSet>
      <dgm:spPr/>
    </dgm:pt>
    <dgm:pt modelId="{7D711AFD-C0EE-4547-9838-785C4D1BDEBD}" type="pres">
      <dgm:prSet presAssocID="{4B5A1892-D2A6-4555-87EE-EC43DD381D3C}" presName="compNode" presStyleCnt="0"/>
      <dgm:spPr/>
    </dgm:pt>
    <dgm:pt modelId="{A81C0ECA-BA33-4340-A471-951A40703F06}" type="pres">
      <dgm:prSet presAssocID="{4B5A1892-D2A6-4555-87EE-EC43DD381D3C}" presName="iconBgRect" presStyleLbl="bgShp" presStyleIdx="0" presStyleCnt="3"/>
      <dgm:spPr/>
    </dgm:pt>
    <dgm:pt modelId="{30C1C922-8129-44E3-A93C-3879B4C97F02}" type="pres">
      <dgm:prSet presAssocID="{4B5A1892-D2A6-4555-87EE-EC43DD381D3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BC9D4EB-2DB3-4293-A6E9-A775AE420EDA}" type="pres">
      <dgm:prSet presAssocID="{4B5A1892-D2A6-4555-87EE-EC43DD381D3C}" presName="spaceRect" presStyleCnt="0"/>
      <dgm:spPr/>
    </dgm:pt>
    <dgm:pt modelId="{8F9C8DBC-C4D7-4983-8122-30D40DB5A708}" type="pres">
      <dgm:prSet presAssocID="{4B5A1892-D2A6-4555-87EE-EC43DD381D3C}" presName="textRect" presStyleLbl="revTx" presStyleIdx="0" presStyleCnt="3">
        <dgm:presLayoutVars>
          <dgm:chMax val="1"/>
          <dgm:chPref val="1"/>
        </dgm:presLayoutVars>
      </dgm:prSet>
      <dgm:spPr/>
    </dgm:pt>
    <dgm:pt modelId="{28AEB9B0-DE0E-4FF5-A683-BFD0A3B8C144}" type="pres">
      <dgm:prSet presAssocID="{7CC80947-22D6-4E58-AFB8-9BC5AFA11B87}" presName="sibTrans" presStyleCnt="0"/>
      <dgm:spPr/>
    </dgm:pt>
    <dgm:pt modelId="{7DC1D982-2154-40B2-A5E8-9671B3A533D8}" type="pres">
      <dgm:prSet presAssocID="{E1CB1CC7-74E0-470D-B052-05E03EE983F1}" presName="compNode" presStyleCnt="0"/>
      <dgm:spPr/>
    </dgm:pt>
    <dgm:pt modelId="{A1A269F7-2DC2-443F-BE2E-511DCC9D4859}" type="pres">
      <dgm:prSet presAssocID="{E1CB1CC7-74E0-470D-B052-05E03EE983F1}" presName="iconBgRect" presStyleLbl="bgShp" presStyleIdx="1" presStyleCnt="3"/>
      <dgm:spPr/>
    </dgm:pt>
    <dgm:pt modelId="{7E4BBB46-BC1D-4737-81D4-B39A52C15A42}" type="pres">
      <dgm:prSet presAssocID="{E1CB1CC7-74E0-470D-B052-05E03EE983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DF9FA4DF-0DE3-448A-985F-2DCB828DFF56}" type="pres">
      <dgm:prSet presAssocID="{E1CB1CC7-74E0-470D-B052-05E03EE983F1}" presName="spaceRect" presStyleCnt="0"/>
      <dgm:spPr/>
    </dgm:pt>
    <dgm:pt modelId="{F28AD448-CC4B-4316-8C10-1A1AF2AF6491}" type="pres">
      <dgm:prSet presAssocID="{E1CB1CC7-74E0-470D-B052-05E03EE983F1}" presName="textRect" presStyleLbl="revTx" presStyleIdx="1" presStyleCnt="3">
        <dgm:presLayoutVars>
          <dgm:chMax val="1"/>
          <dgm:chPref val="1"/>
        </dgm:presLayoutVars>
      </dgm:prSet>
      <dgm:spPr/>
    </dgm:pt>
    <dgm:pt modelId="{90D309B6-DEB9-47CE-8A08-2D90FC4F3AC5}" type="pres">
      <dgm:prSet presAssocID="{08A76B9E-0A79-49E6-AD85-6D69E7E26DD8}" presName="sibTrans" presStyleCnt="0"/>
      <dgm:spPr/>
    </dgm:pt>
    <dgm:pt modelId="{D80D0F3C-040D-4F3F-974B-E19892CA57B6}" type="pres">
      <dgm:prSet presAssocID="{E637CA57-7ACD-4DB4-A26D-446EC0DE3651}" presName="compNode" presStyleCnt="0"/>
      <dgm:spPr/>
    </dgm:pt>
    <dgm:pt modelId="{BDA99F15-5DD6-4312-9477-BE3381A31F39}" type="pres">
      <dgm:prSet presAssocID="{E637CA57-7ACD-4DB4-A26D-446EC0DE3651}" presName="iconBgRect" presStyleLbl="bgShp" presStyleIdx="2" presStyleCnt="3"/>
      <dgm:spPr/>
    </dgm:pt>
    <dgm:pt modelId="{D9917475-D058-4274-81CF-4D192AB49B39}" type="pres">
      <dgm:prSet presAssocID="{E637CA57-7ACD-4DB4-A26D-446EC0DE365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FAF6C30B-A515-44FA-9A47-2DE6C5E1537C}" type="pres">
      <dgm:prSet presAssocID="{E637CA57-7ACD-4DB4-A26D-446EC0DE3651}" presName="spaceRect" presStyleCnt="0"/>
      <dgm:spPr/>
    </dgm:pt>
    <dgm:pt modelId="{06F1E995-B7C7-47FC-A55E-542B77AB108D}" type="pres">
      <dgm:prSet presAssocID="{E637CA57-7ACD-4DB4-A26D-446EC0DE365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F35DF09-9953-4A2E-B3F0-111D9081348D}" type="presOf" srcId="{B2C07DB8-BF7F-4B8D-BB43-7EFA012B7C55}" destId="{E50CF68F-BC82-4B31-80BF-818C81C523A0}" srcOrd="0" destOrd="0" presId="urn:microsoft.com/office/officeart/2018/5/layout/IconCircleLabelList"/>
    <dgm:cxn modelId="{0D066139-18EB-4A5E-8EEF-BB132C96BDA1}" srcId="{B2C07DB8-BF7F-4B8D-BB43-7EFA012B7C55}" destId="{E637CA57-7ACD-4DB4-A26D-446EC0DE3651}" srcOrd="2" destOrd="0" parTransId="{42E48EB4-7BFC-47F1-911F-B33ECA094B3F}" sibTransId="{3ADE2961-007F-4214-9CE4-FD25AC7D06F0}"/>
    <dgm:cxn modelId="{10CF2243-7E29-492C-A286-33CDA59B03D6}" srcId="{B2C07DB8-BF7F-4B8D-BB43-7EFA012B7C55}" destId="{E1CB1CC7-74E0-470D-B052-05E03EE983F1}" srcOrd="1" destOrd="0" parTransId="{1A8BAC4B-9356-46FB-8662-19C55D763550}" sibTransId="{08A76B9E-0A79-49E6-AD85-6D69E7E26DD8}"/>
    <dgm:cxn modelId="{D6C3296D-225C-4DAF-B2EB-814883E74564}" srcId="{B2C07DB8-BF7F-4B8D-BB43-7EFA012B7C55}" destId="{4B5A1892-D2A6-4555-87EE-EC43DD381D3C}" srcOrd="0" destOrd="0" parTransId="{0A6CC519-3F06-4AA8-AD36-0D0409EA7B5C}" sibTransId="{7CC80947-22D6-4E58-AFB8-9BC5AFA11B87}"/>
    <dgm:cxn modelId="{3045D64F-5B1D-4413-BE80-F6EB54BD9233}" type="presOf" srcId="{E637CA57-7ACD-4DB4-A26D-446EC0DE3651}" destId="{06F1E995-B7C7-47FC-A55E-542B77AB108D}" srcOrd="0" destOrd="0" presId="urn:microsoft.com/office/officeart/2018/5/layout/IconCircleLabelList"/>
    <dgm:cxn modelId="{D2B794AF-F090-431A-A396-FAD0B790E87A}" type="presOf" srcId="{4B5A1892-D2A6-4555-87EE-EC43DD381D3C}" destId="{8F9C8DBC-C4D7-4983-8122-30D40DB5A708}" srcOrd="0" destOrd="0" presId="urn:microsoft.com/office/officeart/2018/5/layout/IconCircleLabelList"/>
    <dgm:cxn modelId="{F7099ED6-EAB3-4636-B7B2-DB74457BD5DA}" type="presOf" srcId="{E1CB1CC7-74E0-470D-B052-05E03EE983F1}" destId="{F28AD448-CC4B-4316-8C10-1A1AF2AF6491}" srcOrd="0" destOrd="0" presId="urn:microsoft.com/office/officeart/2018/5/layout/IconCircleLabelList"/>
    <dgm:cxn modelId="{0E2998DD-6A89-43B7-A644-313E2C1BCF7B}" type="presParOf" srcId="{E50CF68F-BC82-4B31-80BF-818C81C523A0}" destId="{7D711AFD-C0EE-4547-9838-785C4D1BDEBD}" srcOrd="0" destOrd="0" presId="urn:microsoft.com/office/officeart/2018/5/layout/IconCircleLabelList"/>
    <dgm:cxn modelId="{1DADE63A-E05C-4D4E-A67C-5798884DA702}" type="presParOf" srcId="{7D711AFD-C0EE-4547-9838-785C4D1BDEBD}" destId="{A81C0ECA-BA33-4340-A471-951A40703F06}" srcOrd="0" destOrd="0" presId="urn:microsoft.com/office/officeart/2018/5/layout/IconCircleLabelList"/>
    <dgm:cxn modelId="{1FBF9753-0343-4E45-B1C8-FDB77DEE6BB8}" type="presParOf" srcId="{7D711AFD-C0EE-4547-9838-785C4D1BDEBD}" destId="{30C1C922-8129-44E3-A93C-3879B4C97F02}" srcOrd="1" destOrd="0" presId="urn:microsoft.com/office/officeart/2018/5/layout/IconCircleLabelList"/>
    <dgm:cxn modelId="{12E165AF-F114-4AC5-9813-F18610A5F9B5}" type="presParOf" srcId="{7D711AFD-C0EE-4547-9838-785C4D1BDEBD}" destId="{9BC9D4EB-2DB3-4293-A6E9-A775AE420EDA}" srcOrd="2" destOrd="0" presId="urn:microsoft.com/office/officeart/2018/5/layout/IconCircleLabelList"/>
    <dgm:cxn modelId="{683DDB7E-C9F9-47D1-B6A2-3D9E5ABCC157}" type="presParOf" srcId="{7D711AFD-C0EE-4547-9838-785C4D1BDEBD}" destId="{8F9C8DBC-C4D7-4983-8122-30D40DB5A708}" srcOrd="3" destOrd="0" presId="urn:microsoft.com/office/officeart/2018/5/layout/IconCircleLabelList"/>
    <dgm:cxn modelId="{654E7006-CE46-4E19-AD66-FAAA86C4900F}" type="presParOf" srcId="{E50CF68F-BC82-4B31-80BF-818C81C523A0}" destId="{28AEB9B0-DE0E-4FF5-A683-BFD0A3B8C144}" srcOrd="1" destOrd="0" presId="urn:microsoft.com/office/officeart/2018/5/layout/IconCircleLabelList"/>
    <dgm:cxn modelId="{6BEE5323-37D2-4E97-9522-E48939EF4C40}" type="presParOf" srcId="{E50CF68F-BC82-4B31-80BF-818C81C523A0}" destId="{7DC1D982-2154-40B2-A5E8-9671B3A533D8}" srcOrd="2" destOrd="0" presId="urn:microsoft.com/office/officeart/2018/5/layout/IconCircleLabelList"/>
    <dgm:cxn modelId="{B855052B-9397-4FFA-92D3-91FD2717912D}" type="presParOf" srcId="{7DC1D982-2154-40B2-A5E8-9671B3A533D8}" destId="{A1A269F7-2DC2-443F-BE2E-511DCC9D4859}" srcOrd="0" destOrd="0" presId="urn:microsoft.com/office/officeart/2018/5/layout/IconCircleLabelList"/>
    <dgm:cxn modelId="{458A295B-7356-4915-B5C6-912C71F820D1}" type="presParOf" srcId="{7DC1D982-2154-40B2-A5E8-9671B3A533D8}" destId="{7E4BBB46-BC1D-4737-81D4-B39A52C15A42}" srcOrd="1" destOrd="0" presId="urn:microsoft.com/office/officeart/2018/5/layout/IconCircleLabelList"/>
    <dgm:cxn modelId="{C166364F-4273-4C13-BC6E-D53F10C79B7D}" type="presParOf" srcId="{7DC1D982-2154-40B2-A5E8-9671B3A533D8}" destId="{DF9FA4DF-0DE3-448A-985F-2DCB828DFF56}" srcOrd="2" destOrd="0" presId="urn:microsoft.com/office/officeart/2018/5/layout/IconCircleLabelList"/>
    <dgm:cxn modelId="{12325654-54A5-4B31-BEFD-6855D18F5493}" type="presParOf" srcId="{7DC1D982-2154-40B2-A5E8-9671B3A533D8}" destId="{F28AD448-CC4B-4316-8C10-1A1AF2AF6491}" srcOrd="3" destOrd="0" presId="urn:microsoft.com/office/officeart/2018/5/layout/IconCircleLabelList"/>
    <dgm:cxn modelId="{B09A8D16-EB49-4A62-8434-579E0D89C9D0}" type="presParOf" srcId="{E50CF68F-BC82-4B31-80BF-818C81C523A0}" destId="{90D309B6-DEB9-47CE-8A08-2D90FC4F3AC5}" srcOrd="3" destOrd="0" presId="urn:microsoft.com/office/officeart/2018/5/layout/IconCircleLabelList"/>
    <dgm:cxn modelId="{8D2FC91C-007A-4A88-B9B6-0BDCBEFF2C8F}" type="presParOf" srcId="{E50CF68F-BC82-4B31-80BF-818C81C523A0}" destId="{D80D0F3C-040D-4F3F-974B-E19892CA57B6}" srcOrd="4" destOrd="0" presId="urn:microsoft.com/office/officeart/2018/5/layout/IconCircleLabelList"/>
    <dgm:cxn modelId="{2F5DC871-9F3D-46A6-B903-E306F3BB3B31}" type="presParOf" srcId="{D80D0F3C-040D-4F3F-974B-E19892CA57B6}" destId="{BDA99F15-5DD6-4312-9477-BE3381A31F39}" srcOrd="0" destOrd="0" presId="urn:microsoft.com/office/officeart/2018/5/layout/IconCircleLabelList"/>
    <dgm:cxn modelId="{F582D5ED-ED3C-4958-9CE1-2816F7A8B8FD}" type="presParOf" srcId="{D80D0F3C-040D-4F3F-974B-E19892CA57B6}" destId="{D9917475-D058-4274-81CF-4D192AB49B39}" srcOrd="1" destOrd="0" presId="urn:microsoft.com/office/officeart/2018/5/layout/IconCircleLabelList"/>
    <dgm:cxn modelId="{65C3538F-6FA3-4A7E-B4C0-BFBCC87C1215}" type="presParOf" srcId="{D80D0F3C-040D-4F3F-974B-E19892CA57B6}" destId="{FAF6C30B-A515-44FA-9A47-2DE6C5E1537C}" srcOrd="2" destOrd="0" presId="urn:microsoft.com/office/officeart/2018/5/layout/IconCircleLabelList"/>
    <dgm:cxn modelId="{513F6911-77A6-4228-8A98-AAA8893CDD3B}" type="presParOf" srcId="{D80D0F3C-040D-4F3F-974B-E19892CA57B6}" destId="{06F1E995-B7C7-47FC-A55E-542B77AB108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06987-61E0-4CB4-981B-28C7E7031F23}">
      <dsp:nvSpPr>
        <dsp:cNvPr id="0" name=""/>
        <dsp:cNvSpPr/>
      </dsp:nvSpPr>
      <dsp:spPr>
        <a:xfrm>
          <a:off x="3673655" y="2050682"/>
          <a:ext cx="8143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814359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9711" y="2092177"/>
        <a:ext cx="42247" cy="8449"/>
      </dsp:txXfrm>
    </dsp:sp>
    <dsp:sp modelId="{86EDD546-E9F3-4ABA-A733-F4415094F32F}">
      <dsp:nvSpPr>
        <dsp:cNvPr id="0" name=""/>
        <dsp:cNvSpPr/>
      </dsp:nvSpPr>
      <dsp:spPr>
        <a:xfrm>
          <a:off x="1720" y="994281"/>
          <a:ext cx="3673735" cy="22042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016" tIns="188959" rIns="180016" bIns="18895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Problem: Manual classification of heating system modes is inefficient and error-prone.</a:t>
          </a:r>
        </a:p>
      </dsp:txBody>
      <dsp:txXfrm>
        <a:off x="1720" y="994281"/>
        <a:ext cx="3673735" cy="2204241"/>
      </dsp:txXfrm>
    </dsp:sp>
    <dsp:sp modelId="{DC1AF9AA-3BD7-4C95-970C-EFBED3896145}">
      <dsp:nvSpPr>
        <dsp:cNvPr id="0" name=""/>
        <dsp:cNvSpPr/>
      </dsp:nvSpPr>
      <dsp:spPr>
        <a:xfrm>
          <a:off x="4520415" y="994281"/>
          <a:ext cx="3673735" cy="220424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016" tIns="188959" rIns="180016" bIns="188959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Goal: Detection of active Nighttime-Setback mode </a:t>
          </a:r>
        </a:p>
      </dsp:txBody>
      <dsp:txXfrm>
        <a:off x="4520415" y="994281"/>
        <a:ext cx="3673735" cy="22042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B7A76F-D768-4D70-A686-798FAE99A4CB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Setback mode typically active between 20:30–21:30 and 03:30–04:30.</a:t>
          </a:r>
        </a:p>
      </dsp:txBody>
      <dsp:txXfrm>
        <a:off x="0" y="179916"/>
        <a:ext cx="2561209" cy="1536725"/>
      </dsp:txXfrm>
    </dsp:sp>
    <dsp:sp modelId="{2A83C6B9-F437-4F55-BA6C-7C49819B52FE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0" kern="1200"/>
            <a:t>Difference between supply and return temperatures tend to be higher in winter </a:t>
          </a:r>
          <a:r>
            <a:rPr lang="en-US" sz="1600" b="0" i="0" kern="1200"/>
            <a:t>during active hours, reflecting increased heating output.</a:t>
          </a:r>
          <a:endParaRPr lang="en-US" sz="1600" kern="1200"/>
        </a:p>
      </dsp:txBody>
      <dsp:txXfrm>
        <a:off x="2817330" y="179916"/>
        <a:ext cx="2561209" cy="1536725"/>
      </dsp:txXfrm>
    </dsp:sp>
    <dsp:sp modelId="{A3BF8633-734C-4E78-8D6F-B59DDF50474F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Significant drop in supply temperature confirms mode activation.</a:t>
          </a:r>
        </a:p>
      </dsp:txBody>
      <dsp:txXfrm>
        <a:off x="5634661" y="179916"/>
        <a:ext cx="2561209" cy="1536725"/>
      </dsp:txXfrm>
    </dsp:sp>
    <dsp:sp modelId="{76D06982-A6B3-41A7-B46F-F6EEA1A97262}">
      <dsp:nvSpPr>
        <dsp:cNvPr id="0" name=""/>
        <dsp:cNvSpPr/>
      </dsp:nvSpPr>
      <dsp:spPr>
        <a:xfrm>
          <a:off x="1408665" y="19727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Observed Noticeable temperature changes based on nighttime setback mode activation and deactivation.</a:t>
          </a:r>
        </a:p>
      </dsp:txBody>
      <dsp:txXfrm>
        <a:off x="1408665" y="1972762"/>
        <a:ext cx="2561209" cy="1536725"/>
      </dsp:txXfrm>
    </dsp:sp>
    <dsp:sp modelId="{24D213B3-C377-4EE5-A76D-2992A6D85ED2}">
      <dsp:nvSpPr>
        <dsp:cNvPr id="0" name=""/>
        <dsp:cNvSpPr/>
      </dsp:nvSpPr>
      <dsp:spPr>
        <a:xfrm>
          <a:off x="4225995" y="19727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Manual overrides detected and visualized.</a:t>
          </a:r>
        </a:p>
      </dsp:txBody>
      <dsp:txXfrm>
        <a:off x="4225995" y="1972762"/>
        <a:ext cx="2561209" cy="15367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C0ECA-BA33-4340-A471-951A40703F06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1C922-8129-44E3-A93C-3879B4C97F02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C8DBC-C4D7-4983-8122-30D40DB5A708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Automation reduces manual monitoring.</a:t>
          </a:r>
        </a:p>
      </dsp:txBody>
      <dsp:txXfrm>
        <a:off x="46529" y="2703902"/>
        <a:ext cx="2418750" cy="720000"/>
      </dsp:txXfrm>
    </dsp:sp>
    <dsp:sp modelId="{A1A269F7-2DC2-443F-BE2E-511DCC9D4859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BBB46-BC1D-4737-81D4-B39A52C15A4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AD448-CC4B-4316-8C10-1A1AF2AF649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latin typeface="Calibri"/>
            </a:rPr>
            <a:t>Models can be extended to other buildings</a:t>
          </a:r>
          <a:r>
            <a:rPr lang="en-US" sz="1500" kern="1200"/>
            <a:t>.</a:t>
          </a:r>
        </a:p>
      </dsp:txBody>
      <dsp:txXfrm>
        <a:off x="2888560" y="2703902"/>
        <a:ext cx="2418750" cy="720000"/>
      </dsp:txXfrm>
    </dsp:sp>
    <dsp:sp modelId="{BDA99F15-5DD6-4312-9477-BE3381A31F39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17475-D058-4274-81CF-4D192AB49B39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1E995-B7C7-47FC-A55E-542B77AB108D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latin typeface="Calibri"/>
            </a:rPr>
            <a:t>Optimize heating with effective use of nighttime setback mode. </a:t>
          </a:r>
          <a:endParaRPr lang="en-US" sz="1500" kern="1200"/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2EF3E-C7E1-413E-9EBE-5FA32ACB6594}" type="datetimeFigureOut"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F8FEC-0821-4A5A-94EE-3DA1BF2C1D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F8FEC-0821-4A5A-94EE-3DA1BF2C1DD1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5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F8FEC-0821-4A5A-94EE-3DA1BF2C1DD1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dirty="0"/>
              <a:t>For the prediction part, you can see here our orange workflows.</a:t>
            </a:r>
          </a:p>
          <a:p>
            <a:pPr>
              <a:spcBef>
                <a:spcPct val="20000"/>
              </a:spcBef>
            </a:pPr>
            <a:endParaRPr lang="en-US" dirty="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dirty="0"/>
              <a:t>The top flow indicates the training of the models logistic regression, gradient </a:t>
            </a:r>
            <a:r>
              <a:rPr lang="en-US" dirty="0" err="1"/>
              <a:t>booosting</a:t>
            </a:r>
            <a:r>
              <a:rPr lang="en-US" dirty="0"/>
              <a:t>, random forest and SVM </a:t>
            </a:r>
            <a:endParaRPr lang="en-US" dirty="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endParaRPr lang="en-US" dirty="0"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dirty="0"/>
              <a:t>The bottom flow indicates the testing and evaluation of - which we did with to do only with logistic regression, gradient </a:t>
            </a:r>
            <a:r>
              <a:rPr lang="en-US" dirty="0" err="1"/>
              <a:t>booosting</a:t>
            </a:r>
            <a:r>
              <a:rPr lang="en-US" dirty="0"/>
              <a:t>, random forest. </a:t>
            </a:r>
          </a:p>
          <a:p>
            <a:pPr marL="171450" indent="-171450">
              <a:spcBef>
                <a:spcPct val="20000"/>
              </a:spcBef>
              <a:buFont typeface="Arial"/>
              <a:buChar char="•"/>
            </a:pPr>
            <a:endParaRPr lang="en-US" dirty="0"/>
          </a:p>
          <a:p>
            <a:pPr marL="171450" indent="-171450">
              <a:spcBef>
                <a:spcPct val="20000"/>
              </a:spcBef>
              <a:buFont typeface="Arial"/>
              <a:buChar char="•"/>
            </a:pPr>
            <a:r>
              <a:rPr lang="en-US" dirty="0"/>
              <a:t>Binary classification: </a:t>
            </a:r>
            <a:r>
              <a:rPr lang="en-US"/>
              <a:t>Normal (1)  </a:t>
            </a:r>
            <a:r>
              <a:rPr lang="en-US" dirty="0"/>
              <a:t>vs. Setback (0).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spcBef>
                <a:spcPct val="20000"/>
              </a:spcBef>
              <a:buFont typeface="Arial"/>
              <a:buChar char="•"/>
            </a:pPr>
            <a:r>
              <a:rPr lang="en-US" dirty="0"/>
              <a:t>Features: Hour, outside temp, supply/return temps, delta, ratios, variations.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spcBef>
                <a:spcPct val="20000"/>
              </a:spcBef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F8FEC-0821-4A5A-94EE-3DA1BF2C1DD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65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summarize the </a:t>
            </a:r>
            <a:r>
              <a:rPr lang="en-US" err="1"/>
              <a:t>evalution</a:t>
            </a:r>
            <a:r>
              <a:rPr lang="en-US"/>
              <a:t> results, out of the three tested models, the best performing one overall regarding the accuracy is logistic regression. 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To explain this result we have here</a:t>
            </a:r>
          </a:p>
          <a:p>
            <a:endParaRPr lang="en-US"/>
          </a:p>
          <a:p>
            <a:r>
              <a:rPr lang="en-US"/>
              <a:t>Though, with the confusion matrix shows the benefit of random forest and gradient boosting, because they predict less false negatives. To explain this result we have here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F8FEC-0821-4A5A-94EE-3DA1BF2C1D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74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The </a:t>
            </a:r>
            <a:r>
              <a:rPr lang="de-CH" err="1"/>
              <a:t>specific</a:t>
            </a:r>
            <a:r>
              <a:rPr lang="de-CH"/>
              <a:t> </a:t>
            </a:r>
            <a:r>
              <a:rPr lang="de-CH" err="1"/>
              <a:t>performance</a:t>
            </a:r>
            <a:r>
              <a:rPr lang="de-CH"/>
              <a:t> </a:t>
            </a:r>
            <a:r>
              <a:rPr lang="de-CH" err="1"/>
              <a:t>scores</a:t>
            </a:r>
            <a:r>
              <a:rPr lang="de-CH"/>
              <a:t>.</a:t>
            </a:r>
            <a:endParaRPr lang="en-US"/>
          </a:p>
          <a:p>
            <a:r>
              <a:rPr lang="de-CH"/>
              <a:t>As </a:t>
            </a:r>
            <a:r>
              <a:rPr lang="de-CH" err="1"/>
              <a:t>you</a:t>
            </a:r>
            <a:r>
              <a:rPr lang="de-CH"/>
              <a:t> </a:t>
            </a:r>
            <a:r>
              <a:rPr lang="de-CH" err="1"/>
              <a:t>can</a:t>
            </a:r>
            <a:r>
              <a:rPr lang="de-CH"/>
              <a:t> </a:t>
            </a:r>
            <a:r>
              <a:rPr lang="de-CH" err="1"/>
              <a:t>see</a:t>
            </a:r>
            <a:r>
              <a:rPr lang="de-CH"/>
              <a:t> </a:t>
            </a:r>
            <a:r>
              <a:rPr lang="de-CH" err="1"/>
              <a:t>here</a:t>
            </a:r>
            <a:r>
              <a:rPr lang="de-CH"/>
              <a:t> at </a:t>
            </a:r>
            <a:r>
              <a:rPr lang="de-CH" err="1"/>
              <a:t>the</a:t>
            </a:r>
            <a:r>
              <a:rPr lang="de-CH"/>
              <a:t> top, all 3 </a:t>
            </a:r>
            <a:r>
              <a:rPr lang="de-CH" err="1"/>
              <a:t>models</a:t>
            </a:r>
            <a:r>
              <a:rPr lang="de-CH"/>
              <a:t> </a:t>
            </a:r>
            <a:r>
              <a:rPr lang="de-CH" err="1"/>
              <a:t>have</a:t>
            </a:r>
            <a:r>
              <a:rPr lang="de-CH"/>
              <a:t> </a:t>
            </a:r>
            <a:r>
              <a:rPr lang="de-CH" err="1"/>
              <a:t>quite</a:t>
            </a:r>
            <a:r>
              <a:rPr lang="de-CH"/>
              <a:t> high </a:t>
            </a:r>
            <a:r>
              <a:rPr lang="de-CH" err="1"/>
              <a:t>scores</a:t>
            </a:r>
            <a:r>
              <a:rPr lang="de-CH"/>
              <a:t>, but </a:t>
            </a:r>
            <a:r>
              <a:rPr lang="de-CH" err="1"/>
              <a:t>you</a:t>
            </a:r>
            <a:r>
              <a:rPr lang="de-CH"/>
              <a:t> </a:t>
            </a:r>
            <a:r>
              <a:rPr lang="de-CH" err="1"/>
              <a:t>can</a:t>
            </a:r>
            <a:r>
              <a:rPr lang="de-CH"/>
              <a:t> </a:t>
            </a:r>
            <a:r>
              <a:rPr lang="de-CH" err="1"/>
              <a:t>see</a:t>
            </a:r>
            <a:r>
              <a:rPr lang="de-CH"/>
              <a:t> </a:t>
            </a:r>
            <a:r>
              <a:rPr lang="de-CH" err="1"/>
              <a:t>the</a:t>
            </a:r>
            <a:r>
              <a:rPr lang="de-CH"/>
              <a:t> </a:t>
            </a:r>
            <a:r>
              <a:rPr lang="de-CH" err="1"/>
              <a:t>logistic</a:t>
            </a:r>
            <a:r>
              <a:rPr lang="de-CH"/>
              <a:t> </a:t>
            </a:r>
            <a:r>
              <a:rPr lang="de-CH" err="1"/>
              <a:t>regression</a:t>
            </a:r>
            <a:r>
              <a:rPr lang="de-CH"/>
              <a:t> </a:t>
            </a:r>
            <a:r>
              <a:rPr lang="de-CH" err="1"/>
              <a:t>performance</a:t>
            </a:r>
            <a:r>
              <a:rPr lang="de-CH"/>
              <a:t> </a:t>
            </a:r>
            <a:r>
              <a:rPr lang="de-CH" err="1"/>
              <a:t>the</a:t>
            </a:r>
            <a:r>
              <a:rPr lang="de-CH"/>
              <a:t> best.</a:t>
            </a:r>
            <a:endParaRPr lang="de-CH" err="1">
              <a:ea typeface="Calibri"/>
              <a:cs typeface="Calibri"/>
            </a:endParaRPr>
          </a:p>
          <a:p>
            <a:endParaRPr lang="de-CH"/>
          </a:p>
          <a:p>
            <a:r>
              <a:rPr lang="de-CH"/>
              <a:t>But </a:t>
            </a:r>
            <a:r>
              <a:rPr lang="de-CH" err="1"/>
              <a:t>we</a:t>
            </a:r>
            <a:r>
              <a:rPr lang="de-CH"/>
              <a:t> </a:t>
            </a:r>
            <a:r>
              <a:rPr lang="de-CH" err="1"/>
              <a:t>wanted</a:t>
            </a:r>
            <a:r>
              <a:rPr lang="de-CH"/>
              <a:t> </a:t>
            </a:r>
            <a:r>
              <a:rPr lang="de-CH" err="1"/>
              <a:t>to</a:t>
            </a:r>
            <a:r>
              <a:rPr lang="de-CH"/>
              <a:t> also </a:t>
            </a:r>
            <a:r>
              <a:rPr lang="de-CH" err="1"/>
              <a:t>mention</a:t>
            </a:r>
            <a:r>
              <a:rPr lang="de-CH"/>
              <a:t> </a:t>
            </a:r>
            <a:r>
              <a:rPr lang="de-CH" err="1"/>
              <a:t>here</a:t>
            </a:r>
            <a:r>
              <a:rPr lang="de-CH"/>
              <a:t> in </a:t>
            </a:r>
            <a:r>
              <a:rPr lang="de-CH" err="1"/>
              <a:t>the</a:t>
            </a:r>
            <a:r>
              <a:rPr lang="de-CH"/>
              <a:t> </a:t>
            </a:r>
            <a:r>
              <a:rPr lang="de-CH" err="1"/>
              <a:t>confusion</a:t>
            </a:r>
            <a:r>
              <a:rPr lang="de-CH"/>
              <a:t> </a:t>
            </a:r>
            <a:r>
              <a:rPr lang="de-CH" err="1"/>
              <a:t>matrix</a:t>
            </a:r>
            <a:r>
              <a:rPr lang="de-CH"/>
              <a:t>' = </a:t>
            </a:r>
            <a:r>
              <a:rPr lang="de-CH" err="1"/>
              <a:t>the</a:t>
            </a:r>
            <a:r>
              <a:rPr lang="de-CH"/>
              <a:t> </a:t>
            </a:r>
            <a:r>
              <a:rPr lang="de-CH" err="1"/>
              <a:t>logistic</a:t>
            </a:r>
            <a:r>
              <a:rPr lang="de-CH"/>
              <a:t> </a:t>
            </a:r>
            <a:r>
              <a:rPr lang="de-CH" err="1"/>
              <a:t>regression</a:t>
            </a:r>
            <a:r>
              <a:rPr lang="de-CH"/>
              <a:t> </a:t>
            </a:r>
            <a:r>
              <a:rPr lang="de-CH" err="1"/>
              <a:t>misidentifies</a:t>
            </a:r>
            <a:r>
              <a:rPr lang="de-CH"/>
              <a:t> </a:t>
            </a:r>
            <a:r>
              <a:rPr lang="de-CH" err="1"/>
              <a:t>here</a:t>
            </a:r>
            <a:r>
              <a:rPr lang="de-CH"/>
              <a:t> </a:t>
            </a:r>
            <a:r>
              <a:rPr lang="de-CH" err="1"/>
              <a:t>when</a:t>
            </a:r>
            <a:r>
              <a:rPr lang="de-CH"/>
              <a:t> </a:t>
            </a:r>
            <a:r>
              <a:rPr lang="de-CH" err="1"/>
              <a:t>actual</a:t>
            </a:r>
            <a:r>
              <a:rPr lang="de-CH"/>
              <a:t> = 0 </a:t>
            </a:r>
            <a:r>
              <a:rPr lang="de-CH" err="1"/>
              <a:t>night</a:t>
            </a:r>
            <a:r>
              <a:rPr lang="de-CH"/>
              <a:t> time </a:t>
            </a:r>
            <a:r>
              <a:rPr lang="de-CH" err="1"/>
              <a:t>setback</a:t>
            </a:r>
            <a:r>
              <a:rPr lang="de-CH"/>
              <a:t> </a:t>
            </a:r>
            <a:r>
              <a:rPr lang="de-CH" err="1"/>
              <a:t>mode</a:t>
            </a:r>
            <a:r>
              <a:rPr lang="de-CH"/>
              <a:t> </a:t>
            </a:r>
            <a:r>
              <a:rPr lang="de-CH" err="1"/>
              <a:t>is</a:t>
            </a:r>
            <a:r>
              <a:rPr lang="de-CH"/>
              <a:t> </a:t>
            </a:r>
            <a:r>
              <a:rPr lang="de-CH" err="1"/>
              <a:t>active</a:t>
            </a:r>
            <a:r>
              <a:rPr lang="de-CH"/>
              <a:t> and </a:t>
            </a:r>
            <a:r>
              <a:rPr lang="de-CH" err="1"/>
              <a:t>predicts</a:t>
            </a:r>
            <a:r>
              <a:rPr lang="de-CH"/>
              <a:t> </a:t>
            </a:r>
            <a:r>
              <a:rPr lang="de-CH" err="1"/>
              <a:t>is</a:t>
            </a:r>
            <a:r>
              <a:rPr lang="de-CH"/>
              <a:t> </a:t>
            </a:r>
            <a:r>
              <a:rPr lang="de-CH" err="1"/>
              <a:t>as</a:t>
            </a:r>
            <a:r>
              <a:rPr lang="de-CH"/>
              <a:t> not </a:t>
            </a:r>
            <a:r>
              <a:rPr lang="de-CH" err="1"/>
              <a:t>active</a:t>
            </a:r>
            <a:r>
              <a:rPr lang="de-CH"/>
              <a:t>. So </a:t>
            </a:r>
            <a:r>
              <a:rPr lang="de-CH" err="1"/>
              <a:t>with</a:t>
            </a:r>
            <a:r>
              <a:rPr lang="de-CH"/>
              <a:t> </a:t>
            </a:r>
            <a:r>
              <a:rPr lang="de-CH" err="1"/>
              <a:t>the</a:t>
            </a:r>
            <a:r>
              <a:rPr lang="de-CH"/>
              <a:t> </a:t>
            </a:r>
            <a:r>
              <a:rPr lang="de-CH" err="1"/>
              <a:t>logistic</a:t>
            </a:r>
            <a:r>
              <a:rPr lang="de-CH"/>
              <a:t> </a:t>
            </a:r>
            <a:r>
              <a:rPr lang="de-CH" err="1"/>
              <a:t>regression</a:t>
            </a:r>
            <a:r>
              <a:rPr lang="de-CH"/>
              <a:t> </a:t>
            </a:r>
            <a:r>
              <a:rPr lang="de-CH" err="1"/>
              <a:t>would</a:t>
            </a:r>
            <a:r>
              <a:rPr lang="de-CH"/>
              <a:t> </a:t>
            </a:r>
            <a:r>
              <a:rPr lang="de-CH" err="1"/>
              <a:t>predict</a:t>
            </a:r>
            <a:r>
              <a:rPr lang="de-CH"/>
              <a:t> </a:t>
            </a:r>
            <a:r>
              <a:rPr lang="de-CH" err="1"/>
              <a:t>falsely</a:t>
            </a:r>
            <a:r>
              <a:rPr lang="de-CH"/>
              <a:t> </a:t>
            </a:r>
            <a:r>
              <a:rPr lang="de-CH" err="1"/>
              <a:t>to</a:t>
            </a:r>
            <a:r>
              <a:rPr lang="de-CH"/>
              <a:t> turn </a:t>
            </a:r>
            <a:r>
              <a:rPr lang="de-CH" err="1"/>
              <a:t>the</a:t>
            </a:r>
            <a:r>
              <a:rPr lang="de-CH"/>
              <a:t> </a:t>
            </a:r>
            <a:r>
              <a:rPr lang="de-CH" err="1"/>
              <a:t>nighttime</a:t>
            </a:r>
            <a:r>
              <a:rPr lang="de-CH"/>
              <a:t> </a:t>
            </a:r>
            <a:r>
              <a:rPr lang="de-CH" err="1"/>
              <a:t>set</a:t>
            </a:r>
            <a:r>
              <a:rPr lang="de-CH"/>
              <a:t> back </a:t>
            </a:r>
            <a:r>
              <a:rPr lang="de-CH" err="1"/>
              <a:t>mode</a:t>
            </a:r>
            <a:r>
              <a:rPr lang="de-CH"/>
              <a:t> off </a:t>
            </a:r>
            <a:r>
              <a:rPr lang="de-CH" err="1"/>
              <a:t>when</a:t>
            </a:r>
            <a:r>
              <a:rPr lang="de-CH"/>
              <a:t> </a:t>
            </a:r>
            <a:r>
              <a:rPr lang="de-CH" err="1"/>
              <a:t>it</a:t>
            </a:r>
            <a:r>
              <a:rPr lang="de-CH"/>
              <a:t> </a:t>
            </a:r>
            <a:r>
              <a:rPr lang="de-CH" err="1"/>
              <a:t>should</a:t>
            </a:r>
            <a:r>
              <a:rPr lang="de-CH"/>
              <a:t> </a:t>
            </a:r>
            <a:r>
              <a:rPr lang="de-CH" err="1"/>
              <a:t>be</a:t>
            </a:r>
            <a:r>
              <a:rPr lang="de-CH"/>
              <a:t> on - </a:t>
            </a:r>
            <a:r>
              <a:rPr lang="de-CH" err="1"/>
              <a:t>which</a:t>
            </a:r>
            <a:r>
              <a:rPr lang="de-CH"/>
              <a:t> </a:t>
            </a:r>
            <a:r>
              <a:rPr lang="de-CH" err="1"/>
              <a:t>we</a:t>
            </a:r>
            <a:r>
              <a:rPr lang="de-CH"/>
              <a:t> </a:t>
            </a:r>
            <a:r>
              <a:rPr lang="de-CH" err="1"/>
              <a:t>would</a:t>
            </a:r>
            <a:r>
              <a:rPr lang="de-CH"/>
              <a:t> </a:t>
            </a:r>
            <a:r>
              <a:rPr lang="de-CH" err="1"/>
              <a:t>argue</a:t>
            </a:r>
            <a:r>
              <a:rPr lang="de-CH"/>
              <a:t> </a:t>
            </a:r>
            <a:r>
              <a:rPr lang="de-CH" err="1"/>
              <a:t>is</a:t>
            </a:r>
            <a:r>
              <a:rPr lang="de-CH"/>
              <a:t> a </a:t>
            </a:r>
            <a:r>
              <a:rPr lang="de-CH" err="1"/>
              <a:t>bigger</a:t>
            </a:r>
            <a:r>
              <a:rPr lang="de-CH"/>
              <a:t> </a:t>
            </a:r>
            <a:r>
              <a:rPr lang="de-CH" err="1"/>
              <a:t>business</a:t>
            </a:r>
            <a:r>
              <a:rPr lang="de-CH"/>
              <a:t> </a:t>
            </a:r>
            <a:r>
              <a:rPr lang="de-CH" err="1"/>
              <a:t>loss</a:t>
            </a:r>
            <a:r>
              <a:rPr lang="de-CH"/>
              <a:t>, </a:t>
            </a:r>
            <a:r>
              <a:rPr lang="de-CH" err="1"/>
              <a:t>since</a:t>
            </a:r>
            <a:r>
              <a:rPr lang="de-CH"/>
              <a:t> in </a:t>
            </a:r>
            <a:r>
              <a:rPr lang="de-CH" err="1"/>
              <a:t>that</a:t>
            </a:r>
            <a:r>
              <a:rPr lang="de-CH"/>
              <a:t> </a:t>
            </a:r>
            <a:r>
              <a:rPr lang="de-CH" err="1"/>
              <a:t>case</a:t>
            </a:r>
            <a:r>
              <a:rPr lang="de-CH"/>
              <a:t> </a:t>
            </a:r>
            <a:r>
              <a:rPr lang="de-CH" err="1"/>
              <a:t>the</a:t>
            </a:r>
            <a:r>
              <a:rPr lang="de-CH"/>
              <a:t> </a:t>
            </a:r>
            <a:r>
              <a:rPr lang="de-CH" err="1"/>
              <a:t>heating</a:t>
            </a:r>
            <a:r>
              <a:rPr lang="de-CH"/>
              <a:t> </a:t>
            </a:r>
            <a:r>
              <a:rPr lang="de-CH" err="1"/>
              <a:t>would</a:t>
            </a:r>
            <a:r>
              <a:rPr lang="de-CH"/>
              <a:t> </a:t>
            </a:r>
            <a:r>
              <a:rPr lang="de-CH" err="1"/>
              <a:t>be</a:t>
            </a:r>
            <a:r>
              <a:rPr lang="de-CH"/>
              <a:t> </a:t>
            </a:r>
            <a:r>
              <a:rPr lang="de-CH" err="1"/>
              <a:t>less</a:t>
            </a:r>
            <a:r>
              <a:rPr lang="de-CH"/>
              <a:t> </a:t>
            </a:r>
            <a:r>
              <a:rPr lang="de-CH" err="1"/>
              <a:t>efficient</a:t>
            </a:r>
            <a:r>
              <a:rPr lang="de-CH"/>
              <a:t> and </a:t>
            </a:r>
            <a:r>
              <a:rPr lang="de-CH" err="1"/>
              <a:t>therefore</a:t>
            </a:r>
            <a:r>
              <a:rPr lang="de-CH"/>
              <a:t> </a:t>
            </a:r>
            <a:r>
              <a:rPr lang="de-CH" err="1"/>
              <a:t>more</a:t>
            </a:r>
            <a:r>
              <a:rPr lang="de-CH"/>
              <a:t> </a:t>
            </a:r>
            <a:r>
              <a:rPr lang="de-CH" err="1"/>
              <a:t>costly</a:t>
            </a:r>
            <a:r>
              <a:rPr lang="de-CH"/>
              <a:t>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F8FEC-0821-4A5A-94EE-3DA1BF2C1DD1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08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To conclude, we wanted to highlight the business value of our analysis/model for </a:t>
            </a:r>
            <a:r>
              <a:rPr lang="en-US" dirty="0" err="1">
                <a:ea typeface="Calibri"/>
                <a:cs typeface="Calibri"/>
              </a:rPr>
              <a:t>Plutinsus</a:t>
            </a:r>
            <a:r>
              <a:rPr lang="en-US" dirty="0">
                <a:ea typeface="Calibri"/>
                <a:cs typeface="Calibri"/>
              </a:rPr>
              <a:t>:</a:t>
            </a:r>
          </a:p>
          <a:p>
            <a:pPr marL="228600" indent="-228600">
              <a:buAutoNum type="arabicParenR"/>
            </a:pPr>
            <a:r>
              <a:rPr lang="en-US" dirty="0">
                <a:ea typeface="Calibri"/>
                <a:cs typeface="Calibri"/>
              </a:rPr>
              <a:t>The automated detection of the nighttime setback mode reduces manual monitoring</a:t>
            </a:r>
          </a:p>
          <a:p>
            <a:pPr marL="228600" indent="-228600">
              <a:buAutoNum type="arabicParenR"/>
            </a:pPr>
            <a:r>
              <a:rPr lang="en-US" dirty="0">
                <a:ea typeface="Calibri"/>
                <a:cs typeface="Calibri"/>
              </a:rPr>
              <a:t>With an automated detection, it's easier to identify outliers – which can improve efficiency of the nighttime setback mode and help in optimizing the heating system</a:t>
            </a:r>
          </a:p>
          <a:p>
            <a:pPr marL="228600" indent="-228600">
              <a:buAutoNum type="arabicParenR"/>
            </a:pPr>
            <a:r>
              <a:rPr lang="en-US" dirty="0">
                <a:ea typeface="Calibri"/>
                <a:cs typeface="Calibri"/>
              </a:rPr>
              <a:t>And, finally the </a:t>
            </a:r>
            <a:r>
              <a:rPr lang="en-US">
                <a:ea typeface="Calibri"/>
                <a:cs typeface="Calibri"/>
              </a:rPr>
              <a:t>models</a:t>
            </a:r>
            <a:r>
              <a:rPr lang="en-US" dirty="0">
                <a:ea typeface="Calibri"/>
                <a:cs typeface="Calibri"/>
              </a:rPr>
              <a:t> can be extended to other buildings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F8FEC-0821-4A5A-94EE-3DA1BF2C1D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92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7_4E05152C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5C101B2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E7923F8A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A24D29C6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13ECC-96C5-71A4-6B3D-BCFA9901F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99"/>
            <a:ext cx="9144000" cy="605046"/>
          </a:xfrm>
          <a:prstGeom prst="rect">
            <a:avLst/>
          </a:prstGeom>
        </p:spPr>
      </p:pic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5045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605046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870" y="3375403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Analytical and Predictive Evaluation of Heating System Modes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1098" y="4670652"/>
            <a:ext cx="3604268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200" b="1" dirty="0">
                <a:solidFill>
                  <a:schemeClr val="tx2"/>
                </a:solidFill>
              </a:rPr>
              <a:t>Team 11: Joel Cherianthanathu, Preeti Goyal, Kathrin </a:t>
            </a:r>
            <a:r>
              <a:rPr lang="en-US" sz="1200" b="1" dirty="0" err="1">
                <a:solidFill>
                  <a:schemeClr val="tx2"/>
                </a:solidFill>
              </a:rPr>
              <a:t>Puthiyedathu</a:t>
            </a:r>
            <a:r>
              <a:rPr lang="en-US" sz="1200" b="1" dirty="0">
                <a:solidFill>
                  <a:schemeClr val="tx2"/>
                </a:solidFill>
              </a:rPr>
              <a:t>, Venkata Ramana Tella</a:t>
            </a:r>
          </a:p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chemeClr val="tx2"/>
                </a:solidFill>
              </a:rPr>
              <a:t>Challenge Partner: </a:t>
            </a:r>
            <a:r>
              <a:rPr lang="en-US" sz="1200" dirty="0" err="1">
                <a:solidFill>
                  <a:schemeClr val="tx2"/>
                </a:solidFill>
              </a:rPr>
              <a:t>Plutinsus</a:t>
            </a:r>
            <a:endParaRPr lang="en-US" sz="1200" dirty="0">
              <a:solidFill>
                <a:schemeClr val="tx2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chemeClr val="tx2"/>
                </a:solidFill>
              </a:rPr>
              <a:t>Date: 23rd June 2025</a:t>
            </a:r>
            <a:endParaRPr lang="en-US" sz="1200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17" name="Graphic 16" descr="Thermometer">
            <a:extLst>
              <a:ext uri="{FF2B5EF4-FFF2-40B4-BE49-F238E27FC236}">
                <a16:creationId xmlns:a16="http://schemas.microsoft.com/office/drawing/2014/main" id="{6DFFBB4A-E4B7-EA40-E628-CDF6C218E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352" y="2938086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599069"/>
            <a:ext cx="4679005" cy="6863979"/>
            <a:chOff x="305" y="-5977"/>
            <a:chExt cx="6238675" cy="686397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&amp;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F6DB93-6950-025F-C37E-EBAB831B4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6245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6DE19-7E94-765D-FF15-F247FE42A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Tableau Dashboard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E644B9-53D2-2D83-4DDD-172C77663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90" y="1966293"/>
            <a:ext cx="784521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559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Main Analytical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6F30F6-7575-2DC9-8968-B23BEC8B9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63920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D5731-6EC9-CF7C-A7A2-55A1311BC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Orange Workflow – Predictive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70D4A0-8A1D-EFF3-61C6-39842C223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76821" y="753216"/>
            <a:ext cx="5419311" cy="535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594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432E51-1DF5-7992-0F98-E17A8AAB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Evaluation Results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D87808-5D0A-DE8C-F521-4F2E9F419DDC}"/>
              </a:ext>
            </a:extLst>
          </p:cNvPr>
          <p:cNvSpPr>
            <a:spLocks noGrp="1"/>
          </p:cNvSpPr>
          <p:nvPr/>
        </p:nvSpPr>
        <p:spPr>
          <a:xfrm>
            <a:off x="1028699" y="2318197"/>
            <a:ext cx="7293023" cy="2583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Tested Models: </a:t>
            </a:r>
            <a:endParaRPr lang="en-US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Random Forest</a:t>
            </a:r>
            <a:endParaRPr lang="en-US" sz="1700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Gradient Boosting</a:t>
            </a:r>
            <a:endParaRPr lang="en-US" sz="1700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Logistic Regression</a:t>
            </a:r>
            <a:endParaRPr lang="en-US" sz="17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Best Performing Model regarding accuracy:</a:t>
            </a:r>
            <a:endParaRPr lang="en-US" sz="1700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>
                <a:ea typeface="Calibri"/>
                <a:cs typeface="Calibri"/>
              </a:rPr>
              <a:t>Logistic Regression </a:t>
            </a:r>
            <a:endParaRPr lang="en-US" sz="13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>
                <a:ea typeface="Calibri"/>
                <a:cs typeface="Calibri"/>
              </a:rPr>
              <a:t>Evaluation Measures Confusion Matrix shows less false negatives: </a:t>
            </a:r>
            <a:endParaRPr lang="en-US" sz="1700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Random Forest </a:t>
            </a:r>
            <a:endParaRPr lang="en-US" sz="1700">
              <a:ea typeface="Calibri"/>
              <a:cs typeface="Calibri"/>
            </a:endParaRP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Gradient Boosting</a:t>
            </a:r>
            <a:endParaRPr lang="en-US" sz="17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51214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ADD15-3EFC-EAB3-25A1-0D449449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07" y="456345"/>
            <a:ext cx="2384947" cy="35560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3200">
                <a:solidFill>
                  <a:srgbClr val="FFFFFF"/>
                </a:solidFill>
              </a:rPr>
              <a:t>Test Data Performance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467CF1-6FD0-789B-EE3E-CC0F1BD15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598" y="1665430"/>
            <a:ext cx="4752050" cy="161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42894-A8C1-6786-50A1-0B5A734E4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9212" y="3376709"/>
            <a:ext cx="4744814" cy="16938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39E2EF-8920-6CB6-B8EB-72BE8FA90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1598" y="5190157"/>
            <a:ext cx="4759284" cy="1528303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9414A2-A295-96AF-7EAA-AC720F6A0B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7510" y="269006"/>
            <a:ext cx="4759283" cy="131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659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Value for Plutinsus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7159D7-0E34-7F88-A389-6F38651CA1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6035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B20ECF-B7A2-9149-BEC5-0CB504D025BD}">
  <we:reference id="e765dd0b-6697-44aa-9025-1ce65686c598" version="3.7.0.0" store="EXCatalog" storeType="EXCatalog"/>
  <we:alternateReferences>
    <we:reference id="WA104380519" version="3.7.0.0" store="de-CH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Office PowerPoint</Application>
  <PresentationFormat>On-screen Show (4:3)</PresentationFormat>
  <Paragraphs>57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Analytical and Predictive Evaluation of Heating System Modes</vt:lpstr>
      <vt:lpstr>Problem &amp; Objective</vt:lpstr>
      <vt:lpstr>Tableau Dashboard</vt:lpstr>
      <vt:lpstr>Main Analytical Insights</vt:lpstr>
      <vt:lpstr>Orange Workflow – Predictive Model</vt:lpstr>
      <vt:lpstr>Model Evaluation Results</vt:lpstr>
      <vt:lpstr>Test Data Performance Results</vt:lpstr>
      <vt:lpstr>Business Value for Plutinsus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venkata ramana tella</dc:creator>
  <cp:keywords/>
  <dc:description>generated using python-pptx</dc:description>
  <cp:lastModifiedBy>Venkata Ramana Tella (s)</cp:lastModifiedBy>
  <cp:revision>2</cp:revision>
  <dcterms:created xsi:type="dcterms:W3CDTF">2013-01-27T09:14:16Z</dcterms:created>
  <dcterms:modified xsi:type="dcterms:W3CDTF">2026-02-24T15:05:57Z</dcterms:modified>
  <cp:category/>
</cp:coreProperties>
</file>